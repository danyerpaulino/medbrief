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1A59A"/>
          </a:solidFill>
          <a:ln>
            <a:noFill/>
          </a:ln>
        </p:spPr>
      </p:sp>
      <p:sp>
        <p:nvSpPr>
          <p:cNvPr id="4" name="Left Panel"/>
          <p:cNvSpPr/>
          <p:nvPr/>
        </p:nvSpPr>
        <p:spPr>
          <a:xfrm>
            <a:off x="0" y="0"/>
            <a:ext cx="2788920" cy="6858000"/>
          </a:xfrm>
          <a:prstGeom prst="rect">
            <a:avLst/>
          </a:prstGeom>
          <a:solidFill>
            <a:srgbClr val="123F4B"/>
          </a:solidFill>
          <a:ln>
            <a:noFill/>
          </a:ln>
        </p:spPr>
      </p:sp>
      <p:sp>
        <p:nvSpPr>
          <p:cNvPr id="5" name="Left Panel Accent"/>
          <p:cNvSpPr/>
          <p:nvPr/>
        </p:nvSpPr>
        <p:spPr>
          <a:xfrm>
            <a:off x="2697480" y="0"/>
            <a:ext cx="91440" cy="6858000"/>
          </a:xfrm>
          <a:prstGeom prst="rect">
            <a:avLst/>
          </a:prstGeom>
          <a:solidFill>
            <a:srgbClr val="31A59A"/>
          </a:solidFill>
          <a:ln>
            <a:noFill/>
          </a:ln>
        </p:spPr>
      </p:sp>
      <p:sp>
        <p:nvSpPr>
          <p:cNvPr id="6" name="Brand"/>
          <p:cNvSpPr txBox="1"/>
          <p:nvPr/>
        </p:nvSpPr>
        <p:spPr>
          <a:xfrm>
            <a:off x="320040" y="384048"/>
            <a:ext cx="214884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Aptos"/>
                <a:cs typeface="Aptos"/>
              </a:rPr>
              <a:t>MedBrief</a:t>
            </a:r>
          </a:p>
          <a:p>
            <a:pPr algn="l"/>
            <a:r>
              <a:rPr lang="en-US" sz="1050">
                <a:solidFill>
                  <a:srgbClr val="CFE8E5"/>
                </a:solidFill>
                <a:latin typeface="Aptos"/>
                <a:cs typeface="Aptos"/>
              </a:rPr>
              <a:t>AI condition briefings for health-system strategy</a:t>
            </a:r>
          </a:p>
        </p:txBody>
      </p:sp>
      <p:sp>
        <p:nvSpPr>
          <p:cNvPr id="7" name="Demo Proof"/>
          <p:cNvSpPr txBox="1"/>
          <p:nvPr/>
        </p:nvSpPr>
        <p:spPr>
          <a:xfrm>
            <a:off x="320040" y="1417320"/>
            <a:ext cx="2057400" cy="2148840"/>
          </a:xfrm>
          <a:prstGeom prst="roundRect">
            <a:avLst/>
          </a:prstGeom>
          <a:solidFill>
            <a:srgbClr val="1A5060"/>
          </a:solidFill>
          <a:ln w="14000">
            <a:solidFill>
              <a:srgbClr val="6BC5BB"/>
            </a:solidFill>
          </a:ln>
        </p:spPr>
        <p:txBody>
          <a:bodyPr wrap="square" lIns="110000" tIns="110000" rIns="110000" bIns="110000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500" b="1">
                <a:solidFill>
                  <a:srgbClr val="FFFFFF"/>
                </a:solidFill>
                <a:latin typeface="Aptos"/>
                <a:cs typeface="Aptos"/>
              </a:rPr>
              <a:t>Trust layer</a:t>
            </a:r>
          </a:p>
          <a:p>
            <a:pPr algn="l"/>
            <a:r>
              <a:rPr lang="en-US" sz="1050">
                <a:solidFill>
                  <a:srgbClr val="DCEDEA"/>
                </a:solidFill>
                <a:latin typeface="Aptos"/>
                <a:cs typeface="Aptos"/>
              </a:rPr>
              <a:t>Citation-grounded outputs</a:t>
            </a:r>
          </a:p>
          <a:p>
            <a:pPr algn="l"/>
            <a:r>
              <a:rPr lang="en-US" sz="1050">
                <a:solidFill>
                  <a:srgbClr val="DCEDEA"/>
                </a:solidFill>
                <a:latin typeface="Aptos"/>
                <a:cs typeface="Aptos"/>
              </a:rPr>
              <a:t>Input validation guardrails</a:t>
            </a:r>
          </a:p>
          <a:p>
            <a:pPr algn="l"/>
            <a:r>
              <a:rPr lang="en-US" sz="1050">
                <a:solidFill>
                  <a:srgbClr val="DCEDEA"/>
                </a:solidFill>
                <a:latin typeface="Aptos"/>
                <a:cs typeface="Aptos"/>
              </a:rPr>
              <a:t>Confidence scoring for every briefing</a:t>
            </a:r>
          </a:p>
        </p:txBody>
      </p:sp>
      <p:sp>
        <p:nvSpPr>
          <p:cNvPr id="8" name="Decision Ask"/>
          <p:cNvSpPr txBox="1"/>
          <p:nvPr/>
        </p:nvSpPr>
        <p:spPr>
          <a:xfrm>
            <a:off x="320040" y="4800600"/>
            <a:ext cx="2057400" cy="1417320"/>
          </a:xfrm>
          <a:prstGeom prst="roundRect">
            <a:avLst/>
          </a:prstGeom>
          <a:solidFill>
            <a:srgbClr val="E6F2EE"/>
          </a:solidFill>
          <a:ln w="12000">
            <a:solidFill>
              <a:srgbClr val="31A59A"/>
            </a:solidFill>
          </a:ln>
        </p:spPr>
        <p:txBody>
          <a:bodyPr wrap="square" lIns="115000" tIns="115000" rIns="115000" bIns="115000">
            <a:spAutoFit/>
          </a:bodyPr>
          <a:lstStyle/>
          <a:p>
            <a:pPr algn="l"/>
            <a:r>
              <a:rPr lang="en-US" sz="1300" b="1">
                <a:solidFill>
                  <a:srgbClr val="123F4B"/>
                </a:solidFill>
                <a:latin typeface="Aptos"/>
                <a:cs typeface="Aptos"/>
              </a:rPr>
              <a:t>Decision ask</a:t>
            </a:r>
          </a:p>
          <a:p>
            <a:pPr algn="l"/>
            <a:r>
              <a:rPr lang="en-US" sz="1150">
                <a:solidFill>
                  <a:srgbClr val="123F4B"/>
                </a:solidFill>
                <a:latin typeface="Aptos"/>
                <a:cs typeface="Aptos"/>
              </a:rPr>
              <a:t>Fund a 90-day pilot to turn the demo into a governed decision-intelligence workflow.</a:t>
            </a:r>
          </a:p>
        </p:txBody>
      </p:sp>
      <p:sp>
        <p:nvSpPr>
          <p:cNvPr id="9" name="Headline"/>
          <p:cNvSpPr txBox="1"/>
          <p:nvPr/>
        </p:nvSpPr>
        <p:spPr>
          <a:xfrm>
            <a:off x="3182112" y="438912"/>
            <a:ext cx="8183879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50" b="1">
                <a:solidFill>
                  <a:srgbClr val="14313A"/>
                </a:solidFill>
                <a:latin typeface="Aptos"/>
                <a:cs typeface="Aptos"/>
              </a:rPr>
              <a:t>Fund trusted clinical intelligence, not just faster research</a:t>
            </a:r>
          </a:p>
        </p:txBody>
      </p:sp>
      <p:sp>
        <p:nvSpPr>
          <p:cNvPr id="10" name="Subhead"/>
          <p:cNvSpPr txBox="1"/>
          <p:nvPr/>
        </p:nvSpPr>
        <p:spPr>
          <a:xfrm>
            <a:off x="3200400" y="1152144"/>
            <a:ext cx="7726679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320">
                <a:solidFill>
                  <a:srgbClr val="486365"/>
                </a:solidFill>
                <a:latin typeface="Aptos"/>
                <a:cs typeface="Aptos"/>
              </a:rPr>
              <a:t>MedBrief turns fragmented literature and trial data into citation-backed, guarded, confidence-aware briefings for strategic decisions.</a:t>
            </a:r>
          </a:p>
        </p:txBody>
      </p:sp>
      <p:sp>
        <p:nvSpPr>
          <p:cNvPr id="11" name="Step 1"/>
          <p:cNvSpPr txBox="1"/>
          <p:nvPr/>
        </p:nvSpPr>
        <p:spPr>
          <a:xfrm>
            <a:off x="3200400" y="1783080"/>
            <a:ext cx="1481328" cy="411480"/>
          </a:xfrm>
          <a:prstGeom prst="roundRect">
            <a:avLst/>
          </a:prstGeom>
          <a:solidFill>
            <a:srgbClr val="E7F2EF"/>
          </a:solidFill>
          <a:ln w="9000">
            <a:solidFill>
              <a:srgbClr val="D6E3DF"/>
            </a:solidFill>
          </a:ln>
        </p:spPr>
        <p:txBody>
          <a:bodyPr wrap="square" lIns="35000" tIns="35000" rIns="35000" bIns="35000">
            <a:spAutoFit/>
          </a:bodyPr>
          <a:lstStyle/>
          <a:p>
            <a:pPr algn="c"/>
            <a:r>
              <a:rPr lang="en-US" sz="1050" b="1">
                <a:solidFill>
                  <a:srgbClr val="123F4B"/>
                </a:solidFill>
                <a:latin typeface="Aptos"/>
                <a:cs typeface="Aptos"/>
              </a:rPr>
              <a:t>Condition</a:t>
            </a:r>
          </a:p>
        </p:txBody>
      </p:sp>
      <p:sp>
        <p:nvSpPr>
          <p:cNvPr id="20" name="Arrow 1"/>
          <p:cNvSpPr txBox="1"/>
          <p:nvPr/>
        </p:nvSpPr>
        <p:spPr>
          <a:xfrm>
            <a:off x="4700016" y="1819656"/>
            <a:ext cx="3291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"/>
            <a:r>
              <a:rPr lang="en-US" sz="1150" b="1">
                <a:solidFill>
                  <a:srgbClr val="7B9292"/>
                </a:solidFill>
                <a:latin typeface="Aptos"/>
                <a:cs typeface="Aptos"/>
              </a:rPr>
              <a:t>&gt;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5074920" y="1783080"/>
            <a:ext cx="1481328" cy="411480"/>
          </a:xfrm>
          <a:prstGeom prst="roundRect">
            <a:avLst/>
          </a:prstGeom>
          <a:solidFill>
            <a:srgbClr val="FBEAE6"/>
          </a:solidFill>
          <a:ln w="9000">
            <a:solidFill>
              <a:srgbClr val="D6E3DF"/>
            </a:solidFill>
          </a:ln>
        </p:spPr>
        <p:txBody>
          <a:bodyPr wrap="square" lIns="35000" tIns="35000" rIns="35000" bIns="35000">
            <a:spAutoFit/>
          </a:bodyPr>
          <a:lstStyle/>
          <a:p>
            <a:pPr algn="c"/>
            <a:r>
              <a:rPr lang="en-US" sz="1050" b="1">
                <a:solidFill>
                  <a:srgbClr val="8D3D2B"/>
                </a:solidFill>
                <a:latin typeface="Aptos"/>
                <a:cs typeface="Aptos"/>
              </a:rPr>
              <a:t>Validation guard</a:t>
            </a:r>
          </a:p>
        </p:txBody>
      </p:sp>
      <p:sp>
        <p:nvSpPr>
          <p:cNvPr id="21" name="Arrow 2"/>
          <p:cNvSpPr txBox="1"/>
          <p:nvPr/>
        </p:nvSpPr>
        <p:spPr>
          <a:xfrm>
            <a:off x="6574536" y="1819656"/>
            <a:ext cx="3291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"/>
            <a:r>
              <a:rPr lang="en-US" sz="1150" b="1">
                <a:solidFill>
                  <a:srgbClr val="7B9292"/>
                </a:solidFill>
                <a:latin typeface="Aptos"/>
                <a:cs typeface="Aptos"/>
              </a:rPr>
              <a:t>&gt;</a:t>
            </a:r>
          </a:p>
        </p:txBody>
      </p:sp>
      <p:sp>
        <p:nvSpPr>
          <p:cNvPr id="13" name="Step 3"/>
          <p:cNvSpPr txBox="1"/>
          <p:nvPr/>
        </p:nvSpPr>
        <p:spPr>
          <a:xfrm>
            <a:off x="6949440" y="1783080"/>
            <a:ext cx="1481328" cy="411480"/>
          </a:xfrm>
          <a:prstGeom prst="roundRect">
            <a:avLst/>
          </a:prstGeom>
          <a:solidFill>
            <a:srgbClr val="EAF1FA"/>
          </a:solidFill>
          <a:ln w="9000">
            <a:solidFill>
              <a:srgbClr val="D6E3DF"/>
            </a:solidFill>
          </a:ln>
        </p:spPr>
        <p:txBody>
          <a:bodyPr wrap="square" lIns="35000" tIns="35000" rIns="35000" bIns="35000">
            <a:spAutoFit/>
          </a:bodyPr>
          <a:lstStyle/>
          <a:p>
            <a:pPr algn="c"/>
            <a:r>
              <a:rPr lang="en-US" sz="1050" b="1">
                <a:solidFill>
                  <a:srgbClr val="1F4E79"/>
                </a:solidFill>
                <a:latin typeface="Aptos"/>
                <a:cs typeface="Aptos"/>
              </a:rPr>
              <a:t>Grounded synthesis</a:t>
            </a:r>
          </a:p>
        </p:txBody>
      </p:sp>
      <p:sp>
        <p:nvSpPr>
          <p:cNvPr id="22" name="Arrow 3"/>
          <p:cNvSpPr txBox="1"/>
          <p:nvPr/>
        </p:nvSpPr>
        <p:spPr>
          <a:xfrm>
            <a:off x="8449056" y="1819656"/>
            <a:ext cx="3291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"/>
            <a:r>
              <a:rPr lang="en-US" sz="1150" b="1">
                <a:solidFill>
                  <a:srgbClr val="7B9292"/>
                </a:solidFill>
                <a:latin typeface="Aptos"/>
                <a:cs typeface="Aptos"/>
              </a:rPr>
              <a:t>&gt;</a:t>
            </a:r>
          </a:p>
        </p:txBody>
      </p:sp>
      <p:sp>
        <p:nvSpPr>
          <p:cNvPr id="14" name="Step 4"/>
          <p:cNvSpPr txBox="1"/>
          <p:nvPr/>
        </p:nvSpPr>
        <p:spPr>
          <a:xfrm>
            <a:off x="8823959" y="1783080"/>
            <a:ext cx="1481328" cy="411480"/>
          </a:xfrm>
          <a:prstGeom prst="roundRect">
            <a:avLst/>
          </a:prstGeom>
          <a:solidFill>
            <a:srgbClr val="FFF3D9"/>
          </a:solidFill>
          <a:ln w="9000">
            <a:solidFill>
              <a:srgbClr val="D6E3DF"/>
            </a:solidFill>
          </a:ln>
        </p:spPr>
        <p:txBody>
          <a:bodyPr wrap="square" lIns="35000" tIns="35000" rIns="35000" bIns="35000">
            <a:spAutoFit/>
          </a:bodyPr>
          <a:lstStyle/>
          <a:p>
            <a:pPr algn="c"/>
            <a:r>
              <a:rPr lang="en-US" sz="1050" b="1">
                <a:solidFill>
                  <a:srgbClr val="7A5212"/>
                </a:solidFill>
                <a:latin typeface="Aptos"/>
                <a:cs typeface="Aptos"/>
              </a:rPr>
              <a:t>Confidence score</a:t>
            </a:r>
          </a:p>
        </p:txBody>
      </p:sp>
      <p:sp>
        <p:nvSpPr>
          <p:cNvPr id="30" name="Card 1 Base"/>
          <p:cNvSpPr/>
          <p:nvPr/>
        </p:nvSpPr>
        <p:spPr>
          <a:xfrm>
            <a:off x="3200400" y="2606040"/>
            <a:ext cx="2359152" cy="1993392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BE4E0"/>
            </a:solidFill>
          </a:ln>
        </p:spPr>
      </p:sp>
      <p:sp>
        <p:nvSpPr>
          <p:cNvPr id="40" name="Card 1 Accent"/>
          <p:cNvSpPr/>
          <p:nvPr/>
        </p:nvSpPr>
        <p:spPr>
          <a:xfrm>
            <a:off x="3200400" y="2606040"/>
            <a:ext cx="2359152" cy="91440"/>
          </a:xfrm>
          <a:prstGeom prst="roundRect">
            <a:avLst/>
          </a:prstGeom>
          <a:solidFill>
            <a:srgbClr val="31A59A"/>
          </a:solidFill>
          <a:ln>
            <a:noFill/>
          </a:ln>
        </p:spPr>
      </p:sp>
      <p:sp>
        <p:nvSpPr>
          <p:cNvPr id="50" name="Card 1 Text"/>
          <p:cNvSpPr txBox="1"/>
          <p:nvPr/>
        </p:nvSpPr>
        <p:spPr>
          <a:xfrm>
            <a:off x="3364992" y="2816352"/>
            <a:ext cx="2011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450" b="1">
                <a:solidFill>
                  <a:srgbClr val="14313A"/>
                </a:solidFill>
                <a:latin typeface="Aptos"/>
                <a:cs typeface="Aptos"/>
              </a:rPr>
              <a:t>Trust the source base</a:t>
            </a:r>
          </a:p>
          <a:p>
            <a:pPr algn="l"/>
            <a:r>
              <a:rPr lang="en-US" sz="1120" b="1">
                <a:solidFill>
                  <a:srgbClr val="31A59A"/>
                </a:solidFill>
                <a:latin typeface="Aptos"/>
                <a:cs typeface="Aptos"/>
              </a:rPr>
              <a:t>Citation grounding</a:t>
            </a:r>
          </a:p>
          <a:p>
            <a:pPr algn="l"/>
            <a:r>
              <a:rPr lang="en-US" sz="970">
                <a:solidFill>
                  <a:srgbClr val="526B6C"/>
                </a:solidFill>
                <a:latin typeface="Aptos"/>
                <a:cs typeface="Aptos"/>
              </a:rPr>
              <a:t>Tie claims back to PubMed and ClinicalTrials.gov evidence so stakeholders can inspect why the answer is credible.</a:t>
            </a:r>
          </a:p>
        </p:txBody>
      </p:sp>
      <p:sp>
        <p:nvSpPr>
          <p:cNvPr id="31" name="Card 2 Base"/>
          <p:cNvSpPr/>
          <p:nvPr/>
        </p:nvSpPr>
        <p:spPr>
          <a:xfrm>
            <a:off x="5852160" y="2606040"/>
            <a:ext cx="2359152" cy="1993392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BE4E0"/>
            </a:solidFill>
          </a:ln>
        </p:spPr>
      </p:sp>
      <p:sp>
        <p:nvSpPr>
          <p:cNvPr id="41" name="Card 2 Accent"/>
          <p:cNvSpPr/>
          <p:nvPr/>
        </p:nvSpPr>
        <p:spPr>
          <a:xfrm>
            <a:off x="5852160" y="2606040"/>
            <a:ext cx="2359152" cy="91440"/>
          </a:xfrm>
          <a:prstGeom prst="roundRect">
            <a:avLst/>
          </a:prstGeom>
          <a:solidFill>
            <a:srgbClr val="2F6F9F"/>
          </a:solidFill>
          <a:ln>
            <a:noFill/>
          </a:ln>
        </p:spPr>
      </p:sp>
      <p:sp>
        <p:nvSpPr>
          <p:cNvPr id="51" name="Card 2 Text"/>
          <p:cNvSpPr txBox="1"/>
          <p:nvPr/>
        </p:nvSpPr>
        <p:spPr>
          <a:xfrm>
            <a:off x="6016752" y="2816352"/>
            <a:ext cx="2011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450" b="1">
                <a:solidFill>
                  <a:srgbClr val="14313A"/>
                </a:solidFill>
                <a:latin typeface="Aptos"/>
                <a:cs typeface="Aptos"/>
              </a:rPr>
              <a:t>Reduce misuse risk</a:t>
            </a:r>
          </a:p>
          <a:p>
            <a:pPr algn="l"/>
            <a:r>
              <a:rPr lang="en-US" sz="1120" b="1">
                <a:solidFill>
                  <a:srgbClr val="2F6F9F"/>
                </a:solidFill>
                <a:latin typeface="Aptos"/>
                <a:cs typeface="Aptos"/>
              </a:rPr>
              <a:t>Input validation guard</a:t>
            </a:r>
          </a:p>
          <a:p>
            <a:pPr algn="l"/>
            <a:r>
              <a:rPr lang="en-US" sz="970">
                <a:solidFill>
                  <a:srgbClr val="526B6C"/>
                </a:solidFill>
                <a:latin typeface="Aptos"/>
                <a:cs typeface="Aptos"/>
              </a:rPr>
              <a:t>Reject unsafe or off-scope prompts before processing, demonstrating safety-first product discipline.</a:t>
            </a:r>
          </a:p>
        </p:txBody>
      </p:sp>
      <p:sp>
        <p:nvSpPr>
          <p:cNvPr id="32" name="Card 3 Base"/>
          <p:cNvSpPr/>
          <p:nvPr/>
        </p:nvSpPr>
        <p:spPr>
          <a:xfrm>
            <a:off x="8503920" y="2606040"/>
            <a:ext cx="2359152" cy="1993392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DBE4E0"/>
            </a:solidFill>
          </a:ln>
        </p:spPr>
      </p:sp>
      <p:sp>
        <p:nvSpPr>
          <p:cNvPr id="42" name="Card 3 Accent"/>
          <p:cNvSpPr/>
          <p:nvPr/>
        </p:nvSpPr>
        <p:spPr>
          <a:xfrm>
            <a:off x="8503920" y="2606040"/>
            <a:ext cx="2359152" cy="91440"/>
          </a:xfrm>
          <a:prstGeom prst="roundRect">
            <a:avLst/>
          </a:prstGeom>
          <a:solidFill>
            <a:srgbClr val="D69A2D"/>
          </a:solidFill>
          <a:ln>
            <a:noFill/>
          </a:ln>
        </p:spPr>
      </p:sp>
      <p:sp>
        <p:nvSpPr>
          <p:cNvPr id="52" name="Card 3 Text"/>
          <p:cNvSpPr txBox="1"/>
          <p:nvPr/>
        </p:nvSpPr>
        <p:spPr>
          <a:xfrm>
            <a:off x="8668512" y="2816352"/>
            <a:ext cx="2011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450" b="1">
                <a:solidFill>
                  <a:srgbClr val="14313A"/>
                </a:solidFill>
                <a:latin typeface="Aptos"/>
                <a:cs typeface="Aptos"/>
              </a:rPr>
              <a:t>Make uncertainty visible</a:t>
            </a:r>
          </a:p>
          <a:p>
            <a:pPr algn="l"/>
            <a:r>
              <a:rPr lang="en-US" sz="1120" b="1">
                <a:solidFill>
                  <a:srgbClr val="D69A2D"/>
                </a:solidFill>
                <a:latin typeface="Aptos"/>
                <a:cs typeface="Aptos"/>
              </a:rPr>
              <a:t>Confidence scoring</a:t>
            </a:r>
          </a:p>
          <a:p>
            <a:pPr algn="l"/>
            <a:r>
              <a:rPr lang="en-US" sz="970">
                <a:solidFill>
                  <a:srgbClr val="526B6C"/>
                </a:solidFill>
                <a:latin typeface="Aptos"/>
                <a:cs typeface="Aptos"/>
              </a:rPr>
              <a:t>Show where the system is strong, weak, or evidence-limited so leaders know when to escalate review.</a:t>
            </a:r>
          </a:p>
        </p:txBody>
      </p:sp>
      <p:sp>
        <p:nvSpPr>
          <p:cNvPr id="60" name="Funding Outcome Band"/>
          <p:cNvSpPr/>
          <p:nvPr/>
        </p:nvSpPr>
        <p:spPr>
          <a:xfrm>
            <a:off x="3200400" y="5074920"/>
            <a:ext cx="7909560" cy="1115568"/>
          </a:xfrm>
          <a:prstGeom prst="roundRect">
            <a:avLst/>
          </a:prstGeom>
          <a:solidFill>
            <a:srgbClr val="14313A"/>
          </a:solidFill>
          <a:ln>
            <a:noFill/>
          </a:ln>
        </p:spPr>
      </p:sp>
      <p:sp>
        <p:nvSpPr>
          <p:cNvPr id="61" name="Funding Outcome Text"/>
          <p:cNvSpPr txBox="1"/>
          <p:nvPr/>
        </p:nvSpPr>
        <p:spPr>
          <a:xfrm>
            <a:off x="3456432" y="5248656"/>
            <a:ext cx="3886200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220" b="1">
                <a:solidFill>
                  <a:srgbClr val="9DE0D6"/>
                </a:solidFill>
                <a:latin typeface="Aptos"/>
                <a:cs typeface="Aptos"/>
              </a:rPr>
              <a:t>Funding outcome</a:t>
            </a:r>
          </a:p>
          <a:p>
            <a:pPr algn="l"/>
            <a:r>
              <a:rPr lang="en-US" sz="1150">
                <a:solidFill>
                  <a:srgbClr val="FFFFFF"/>
                </a:solidFill>
                <a:latin typeface="Aptos"/>
                <a:cs typeface="Aptos"/>
              </a:rPr>
              <a:t>A measured pilot proving faster diligence with traceable evidence, safer usage boundaries, and transparent confidence.</a:t>
            </a:r>
          </a:p>
        </p:txBody>
      </p:sp>
      <p:sp>
        <p:nvSpPr>
          <p:cNvPr id="62" name="Band Divider"/>
          <p:cNvSpPr/>
          <p:nvPr/>
        </p:nvSpPr>
        <p:spPr>
          <a:xfrm>
            <a:off x="7543800" y="5230368"/>
            <a:ext cx="13716" cy="768096"/>
          </a:xfrm>
          <a:prstGeom prst="rect">
            <a:avLst/>
          </a:prstGeom>
          <a:solidFill>
            <a:srgbClr val="4E7577"/>
          </a:solidFill>
          <a:ln>
            <a:noFill/>
          </a:ln>
        </p:spPr>
      </p:sp>
      <p:sp>
        <p:nvSpPr>
          <p:cNvPr id="63" name="Pilot Deliverables"/>
          <p:cNvSpPr txBox="1"/>
          <p:nvPr/>
        </p:nvSpPr>
        <p:spPr>
          <a:xfrm>
            <a:off x="7754112" y="5230368"/>
            <a:ext cx="2971800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050" b="1">
                <a:solidFill>
                  <a:srgbClr val="9DE0D6"/>
                </a:solidFill>
                <a:latin typeface="Aptos"/>
                <a:cs typeface="Aptos"/>
              </a:rPr>
              <a:t>Pilot deliverables</a:t>
            </a:r>
          </a:p>
          <a:p>
            <a:pPr algn="l"/>
            <a:r>
              <a:rPr lang="en-US" sz="940">
                <a:solidFill>
                  <a:srgbClr val="DDEDEA"/>
                </a:solidFill>
                <a:latin typeface="Aptos"/>
                <a:cs typeface="Aptos"/>
              </a:rPr>
              <a:t>Citation grounding | validation guardrails | confidence scoring | export-ready briefings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Brief">
  <a:themeElements>
    <a:clrScheme name="MedBrief">
      <a:dk1>
        <a:srgbClr val="14313A"/>
      </a:dk1>
      <a:lt1>
        <a:srgbClr val="FFFFFF"/>
      </a:lt1>
      <a:dk2>
        <a:srgbClr val="123F4B"/>
      </a:dk2>
      <a:lt2>
        <a:srgbClr val="F6F8F5"/>
      </a:lt2>
      <a:accent1>
        <a:srgbClr val="31A59A"/>
      </a:accent1>
      <a:accent2>
        <a:srgbClr val="2F6F9F"/>
      </a:accent2>
      <a:accent3>
        <a:srgbClr val="D69A2D"/>
      </a:accent3>
      <a:accent4>
        <a:srgbClr val="8DAA5A"/>
      </a:accent4>
      <a:accent5>
        <a:srgbClr val="8E6B9E"/>
      </a:accent5>
      <a:accent6>
        <a:srgbClr val="486365"/>
      </a:accent6>
      <a:hlink>
        <a:srgbClr val="2F6F9F"/>
      </a:hlink>
      <a:folHlink>
        <a:srgbClr val="8E6B9E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MedBrief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</Slides>
  <Notes>0</Notes>
  <HiddenSlides>0</HiddenSlides>
  <MMClips>0</MMClips>
  <ScaleCrop>false</ScaleCrop>
  <HeadingPairs>
    <vt:vector size="2" baseType="variant">
      <vt:variant>
        <vt:lpstr>Slides</vt:lpstr>
      </vt:variant>
      <vt:variant>
        <vt:i4>1</vt:i4>
      </vt:variant>
    </vt:vector>
  </HeadingPairs>
  <TitlesOfParts>
    <vt:vector size="1" baseType="lpstr">
      <vt:lpstr>MedBrief stakeholder pitch</vt:lpstr>
    </vt:vector>
  </TitlesOfParts>
  <Company>MedBrief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MedBrief stakeholder pitch</dc:title>
  <dc:subject>Single-slide funding pitch</dc:subject>
  <dc:creator>Codex</dc:creator>
  <cp:keywords>MedBrief, funding, pilot, medical intelligence</cp:keywords>
  <dc:description>One-slide executive pitch focused on business outcomes from funding MedBrief.</dc:description>
  <cp:lastModifiedBy>Codex</cp:lastModifiedBy>
  <dcterms:created xsi:type="dcterms:W3CDTF">2026-05-26T22:43:45Z</dcterms:created>
  <dcterms:modified xsi:type="dcterms:W3CDTF">2026-05-26T22:43:45Z</dcterms:modified>
</cp:coreProperties>
</file>