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wide"/>
  <p:notesSz cx="6858000" cy="9144000"/>
  <p:defaultTextStyle>
    <a:defPPr>
      <a:defRPr lang="en-US"/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 standalone="yes"?><p:sld xmlns:a="http://schemas.openxmlformats.org/drawingml/2006/main" xmlns:r="http://schemas.openxmlformats.org/officeDocument/2006/relationships" xmlns:p="http://schemas.openxmlformats.org/presentationml/2006/main"><p:cSld><p:bg><p:bgPr><a:solidFill><a:srgbClr val="F6F8F5"></a:srgbClr></a:solidFill><a:effectLst/></p:bgPr></p:bg><p:spTree><p:nvGrpSpPr><p:cNvPr id="1" name=""/><p:cNvGrpSpPr/><p:nvPr/></p:nvGrpSpPr><p:grpSpPr><a:xfrm><a:off x="0" y="0"/><a:ext cx="0" cy="0"/><a:chOff x="0" y="0"/><a:chExt cx="0" cy="0"/></a:xfrm></p:grpSpPr><p:sp><p:nvSpPr><p:cNvPr id="2" name="Background"/><p:cNvSpPr/><p:nvPr/></p:nvSpPr><p:spPr><a:xfrm><a:off x="0" y="0"/><a:ext cx="12191695" cy="6858000"/></a:xfrm><a:prstGeom prst="rect"><a:avLst/></a:prstGeom><a:solidFill><a:srgbClr val="F6F8F5"></a:srgbClr></a:solidFill><a:ln><a:noFill/></a:ln></p:spPr></p:sp><p:sp><p:nvSpPr><p:cNvPr id="3" name="Top Accent"/><p:cNvSpPr/><p:nvPr/></p:nvSpPr><p:spPr><a:xfrm><a:off x="0" y="0"/><a:ext cx="12191695" cy="109728"/></a:xfrm><a:prstGeom prst="rect"><a:avLst/></a:prstGeom><a:solidFill><a:srgbClr val="31A59A"></a:srgbClr></a:solidFill><a:ln><a:noFill/></a:ln></p:spPr></p:sp><p:sp><p:nvSpPr><p:cNvPr id="4" name="Left Panel"/><p:cNvSpPr/><p:nvPr/></p:nvSpPr><p:spPr><a:xfrm><a:off x="0" y="0"/><a:ext cx="2788920" cy="6858000"/></a:xfrm><a:prstGeom prst="rect"><a:avLst/></a:prstGeom><a:solidFill><a:srgbClr val="123F4B"></a:srgbClr></a:solidFill><a:ln><a:noFill/></a:ln></p:spPr></p:sp><p:sp><p:nvSpPr><p:cNvPr id="5" name="Left Panel Accent"/><p:cNvSpPr/><p:nvPr/></p:nvSpPr><p:spPr><a:xfrm><a:off x="2697480" y="0"/><a:ext cx="91440" cy="6858000"/></a:xfrm><a:prstGeom prst="rect"><a:avLst/></a:prstGeom><a:solidFill><a:srgbClr val="31A59A"></a:srgbClr></a:solidFill><a:ln><a:noFill/></a:ln></p:spPr></p:sp><p:sp><p:nvSpPr><p:cNvPr id="6" name="Brand"/><p:cNvSpPr txBox="1"/><p:nvPr/></p:nvSpPr><p:spPr><a:xfrm><a:off x="320040" y="384048"/><a:ext cx="2148840" cy="676656"/></a:xfrm><a:prstGeom prst="rect"><a:avLst/></a:prstGeom><a:noFill/><a:ln><a:noFill/></a:ln></p:spPr><p:txBody><a:bodyPr wrap="square" lIns="0" tIns="0" rIns="0" bIns="0"><a:spAutoFit/></a:bodyPr><a:lstStyle/><a:p><a:pPr algn="l"></a:pPr><a:r><a:rPr lang="en-US" sz="3200" b="1"><a:solidFill><a:srgbClr val="FFFFFF"></a:srgbClr></a:solidFill><a:latin typeface="Aptos"/><a:cs typeface="Aptos"/></a:rPr><a:t>MedBrief</a:t></a:r></a:p><a:p><a:pPr algn="l"></a:pPr><a:r><a:rPr lang="en-US" sz="1050"><a:solidFill><a:srgbClr val="CFE8E5"></a:srgbClr></a:solidFill><a:latin typeface="Aptos"/><a:cs typeface="Aptos"/></a:rPr><a:t>AI condition briefings for health-system strategy</a:t></a:r></a:p></p:txBody></p:sp><p:sp><p:nvSpPr><p:cNvPr id="7" name="Demo Proof"/><p:cNvSpPr txBox="1"/><p:nvPr/></p:nvSpPr><p:spPr><a:xfrm><a:off x="320040" y="1417320"/><a:ext cx="2057400" cy="2148840"/></a:xfrm><a:prstGeom prst="roundRect"><a:avLst/></a:prstGeom><a:solidFill><a:srgbClr val="1A5060"></a:srgbClr></a:solidFill><a:ln w="14000"><a:solidFill><a:srgbClr val="6BC5BB"></a:srgbClr></a:solidFill></a:ln></p:spPr><p:txBody><a:bodyPr wrap="square" lIns="110000" tIns="110000" rIns="110000" bIns="110000"><a:spAutoFit/></a:bodyPr><a:lstStyle/><a:p><a:pPr algn="l"><a:spcAft><a:spcPts val="400"/></a:spcAft></a:pPr><a:r><a:rPr lang="en-US" sz="1500" b="1"><a:solidFill><a:srgbClr val="FFFFFF"></a:srgbClr></a:solidFill><a:latin typeface="Aptos"/><a:cs typeface="Aptos"/></a:rPr><a:t>Trust layer</a:t></a:r></a:p><a:p><a:pPr algn="l"></a:pPr><a:r><a:rPr lang="en-US" sz="1050"><a:solidFill><a:srgbClr val="DCEDEA"></a:srgbClr></a:solidFill><a:latin typeface="Aptos"/><a:cs typeface="Aptos"/></a:rPr><a:t>Every claim traced to source</a:t></a:r></a:p><a:p><a:pPr algn="l"></a:pPr><a:r><a:rPr lang="en-US" sz="1050"><a:solidFill><a:srgbClr val="DCEDEA"></a:srgbClr></a:solidFill><a:latin typeface="Aptos"/><a:cs typeface="Aptos"/></a:rPr><a:t>Rejects off-scope or unsafe inputs</a:t></a:r></a:p><a:p><a:pPr algn="l"></a:pPr><a:r><a:rPr lang="en-US" sz="1050"><a:solidFill><a:srgbClr val="DCEDEA"></a:srgbClr></a:solidFill><a:latin typeface="Aptos"/><a:cs typeface="Aptos"/></a:rPr><a:t>Per-section evidence strength rating</a:t></a:r></a:p></p:txBody></p:sp><p:sp><p:nvSpPr><p:cNvPr id="8" name="Decision Ask"/><p:cNvSpPr txBox="1"/><p:nvPr/></p:nvSpPr><p:spPr><a:xfrm><a:off x="320040" y="4800600"/><a:ext cx="2057400" cy="1417320"/></a:xfrm><a:prstGeom prst="roundRect"><a:avLst/></a:prstGeom><a:solidFill><a:srgbClr val="E6F2EE"></a:srgbClr></a:solidFill><a:ln w="12000"><a:solidFill><a:srgbClr val="31A59A"></a:srgbClr></a:solidFill></a:ln></p:spPr><p:txBody><a:bodyPr wrap="square" lIns="115000" tIns="115000" rIns="115000" bIns="115000"><a:spAutoFit/></a:bodyPr><a:lstStyle/><a:p><a:pPr algn="l"></a:pPr><a:r><a:rPr lang="en-US" sz="1300" b="1"><a:solidFill><a:srgbClr val="123F4B"></a:srgbClr></a:solidFill><a:latin typeface="Aptos"/><a:cs typeface="Aptos"/></a:rPr><a:t>Decision ask</a:t></a:r></a:p><a:p><a:pPr algn="l"></a:pPr><a:r><a:rPr lang="en-US" sz="1150"><a:solidFill><a:srgbClr val="123F4B"></a:srgbClr></a:solidFill><a:latin typeface="Aptos"/><a:cs typeface="Aptos"/></a:rPr><a:t>Approve a 90-day pilot: production deployment, integration with existing workflows, and measurable time-to-insight benchmarking.</a:t></a:r></a:p></p:txBody></p:sp><p:sp><p:nvSpPr><p:cNvPr id="9" name="Headline"/><p:cNvSpPr txBox="1"/><p:nvPr/></p:nvSpPr><p:spPr><a:xfrm><a:off x="3182112" y="438912"/><a:ext cx="8183879" cy="749808"/></a:xfrm><a:prstGeom prst="rect"><a:avLst/></a:prstGeom><a:noFill/><a:ln><a:noFill/></a:ln></p:spPr><p:txBody><a:bodyPr wrap="square" lIns="0" tIns="0" rIns="0" bIns="0"><a:spAutoFit/></a:bodyPr><a:lstStyle/><a:p><a:pPr algn="l"></a:pPr><a:r><a:rPr lang="en-US" sz="2850" b="1"><a:solidFill><a:srgbClr val="14313A"></a:srgbClr></a:solidFill><a:latin typeface="Aptos"/><a:cs typeface="Aptos"/></a:rPr><a:t>From literature chaos to governed intelligence in under 60 seconds</a:t></a:r></a:p></p:txBody></p:sp><p:sp><p:nvSpPr><p:cNvPr id="10" name="Subhead"/><p:cNvSpPr txBox="1"/><p:nvPr/></p:nvSpPr><p:spPr><a:xfrm><a:off x="3200400" y="1152144"/><a:ext cx="7726679" cy="457200"/></a:xfrm><a:prstGeom prst="rect"><a:avLst/></a:prstGeom><a:noFill/><a:ln><a:noFill/></a:ln></p:spPr><p:txBody><a:bodyPr wrap="square" lIns="0" tIns="0" rIns="0" bIns="0"><a:spAutoFit/></a:bodyPr><a:lstStyle/><a:p><a:pPr algn="l"></a:pPr><a:r><a:rPr lang="en-US" sz="1320"><a:solidFill><a:srgbClr val="486365"></a:srgbClr></a:solidFill><a:latin typeface="Aptos"/><a:cs typeface="Aptos"/></a:rPr><a:t>MedBrief synthesizes PubMed and ClinicalTrials.gov data into citation-grounded, confidence-scored briefings — with built-in guardrails that make AI output auditable.</a:t></a:r></a:p></p:txBody></p:sp><p:sp><p:nvSpPr><p:cNvPr id="11" name="Step 1"/><p:cNvSpPr txBox="1"/><p:nvPr/></p:nvSpPr><p:spPr><a:xfrm><a:off x="3200400" y="1783080"/><a:ext cx="1481328" cy="411480"/></a:xfrm><a:prstGeom prst="roundRect"><a:avLst/></a:prstGeom><a:solidFill><a:srgbClr val="E7F2EF"></a:srgbClr></a:solidFill><a:ln w="9000"><a:solidFill><a:srgbClr val="D6E3DF"></a:srgbClr></a:solidFill></a:ln></p:spPr><p:txBody><a:bodyPr wrap="square" lIns="35000" tIns="35000" rIns="35000" bIns="35000"><a:spAutoFit/></a:bodyPr><a:lstStyle/><a:p><a:pPr algn="c"></a:pPr><a:r><a:rPr lang="en-US" sz="1050" b="1"><a:solidFill><a:srgbClr val="123F4B"></a:srgbClr></a:solidFill><a:latin typeface="Aptos"/><a:cs typeface="Aptos"/></a:rPr><a:t>Condition</a:t></a:r></a:p></p:txBody></p:sp><p:sp><p:nvSpPr><p:cNvPr id="20" name="Arrow 1"/><p:cNvSpPr txBox="1"/><p:nvPr/></p:nvSpPr><p:spPr><a:xfrm><a:off x="4700016" y="1819656"/><a:ext cx="329184" cy="274320"/></a:xfrm><a:prstGeom prst="rect"><a:avLst/></a:prstGeom><a:noFill/><a:ln><a:noFill/></a:ln></p:spPr><p:txBody><a:bodyPr wrap="square" lIns="0" tIns="0" rIns="0" bIns="0"><a:spAutoFit/></a:bodyPr><a:lstStyle/><a:p><a:pPr algn="c"></a:pPr><a:r><a:rPr lang="en-US" sz="1150" b="1"><a:solidFill><a:srgbClr val="7B9292"></a:srgbClr></a:solidFill><a:latin typeface="Aptos"/><a:cs typeface="Aptos"/></a:rPr><a:t>&gt;</a:t></a:r></a:p></p:txBody></p:sp><p:sp><p:nvSpPr><p:cNvPr id="12" name="Step 2"/><p:cNvSpPr txBox="1"/><p:nvPr/></p:nvSpPr><p:spPr><a:xfrm><a:off x="5074920" y="1783080"/><a:ext cx="1481328" cy="411480"/></a:xfrm><a:prstGeom prst="roundRect"><a:avLst/></a:prstGeom><a:solidFill><a:srgbClr val="FBEAE6"></a:srgbClr></a:solidFill><a:ln w="9000"><a:solidFill><a:srgbClr val="D6E3DF"></a:srgbClr></a:solidFill></a:ln></p:spPr><p:txBody><a:bodyPr wrap="square" lIns="35000" tIns="35000" rIns="35000" bIns="35000"><a:spAutoFit/></a:bodyPr><a:lstStyle/><a:p><a:pPr algn="c"></a:pPr><a:r><a:rPr lang="en-US" sz="1050" b="1"><a:solidFill><a:srgbClr val="8D3D2B"></a:srgbClr></a:solidFill><a:latin typeface="Aptos"/><a:cs typeface="Aptos"/></a:rPr><a:t>Validation guard</a:t></a:r></a:p></p:txBody></p:sp><p:sp><p:nvSpPr><p:cNvPr id="21" name="Arrow 2"/><p:cNvSpPr txBox="1"/><p:nvPr/></p:nvSpPr><p:spPr><a:xfrm><a:off x="6574536" y="1819656"/><a:ext cx="329184" cy="274320"/></a:xfrm><a:prstGeom prst="rect"><a:avLst/></a:prstGeom><a:noFill/><a:ln><a:noFill/></a:ln></p:spPr><p:txBody><a:bodyPr wrap="square" lIns="0" tIns="0" rIns="0" bIns="0"><a:spAutoFit/></a:bodyPr><a:lstStyle/><a:p><a:pPr algn="c"></a:pPr><a:r><a:rPr lang="en-US" sz="1150" b="1"><a:solidFill><a:srgbClr val="7B9292"></a:srgbClr></a:solidFill><a:latin typeface="Aptos"/><a:cs typeface="Aptos"/></a:rPr><a:t>&gt;</a:t></a:r></a:p></p:txBody></p:sp><p:sp><p:nvSpPr><p:cNvPr id="13" name="Step 3"/><p:cNvSpPr txBox="1"/><p:nvPr/></p:nvSpPr><p:spPr><a:xfrm><a:off x="6949440" y="1783080"/><a:ext cx="1481328" cy="411480"/></a:xfrm><a:prstGeom prst="roundRect"><a:avLst/></a:prstGeom><a:solidFill><a:srgbClr val="EAF1FA"></a:srgbClr></a:solidFill><a:ln w="9000"><a:solidFill><a:srgbClr val="D6E3DF"></a:srgbClr></a:solidFill></a:ln></p:spPr><p:txBody><a:bodyPr wrap="square" lIns="35000" tIns="35000" rIns="35000" bIns="35000"><a:spAutoFit/></a:bodyPr><a:lstStyle/><a:p><a:pPr algn="c"></a:pPr><a:r><a:rPr lang="en-US" sz="1050" b="1"><a:solidFill><a:srgbClr val="1F4E79"></a:srgbClr></a:solidFill><a:latin typeface="Aptos"/><a:cs typeface="Aptos"/></a:rPr><a:t>Grounded synthesis</a:t></a:r></a:p></p:txBody></p:sp><p:sp><p:nvSpPr><p:cNvPr id="22" name="Arrow 3"/><p:cNvSpPr txBox="1"/><p:nvPr/></p:nvSpPr><p:spPr><a:xfrm><a:off x="8449056" y="1819656"/><a:ext cx="329184" cy="274320"/></a:xfrm><a:prstGeom prst="rect"><a:avLst/></a:prstGeom><a:noFill/><a:ln><a:noFill/></a:ln></p:spPr><p:txBody><a:bodyPr wrap="square" lIns="0" tIns="0" rIns="0" bIns="0"><a:spAutoFit/></a:bodyPr><a:lstStyle/><a:p><a:pPr algn="c"></a:pPr><a:r><a:rPr lang="en-US" sz="1150" b="1"><a:solidFill><a:srgbClr val="7B9292"></a:srgbClr></a:solidFill><a:latin typeface="Aptos"/><a:cs typeface="Aptos"/></a:rPr><a:t>&gt;</a:t></a:r></a:p></p:txBody></p:sp><p:sp><p:nvSpPr><p:cNvPr id="14" name="Step 4"/><p:cNvSpPr txBox="1"/><p:nvPr/></p:nvSpPr><p:spPr><a:xfrm><a:off x="8823959" y="1783080"/><a:ext cx="1481328" cy="411480"/></a:xfrm><a:prstGeom prst="roundRect"><a:avLst/></a:prstGeom><a:solidFill><a:srgbClr val="FFF3D9"></a:srgbClr></a:solidFill><a:ln w="9000"><a:solidFill><a:srgbClr val="D6E3DF"></a:srgbClr></a:solidFill></a:ln></p:spPr><p:txBody><a:bodyPr wrap="square" lIns="35000" tIns="35000" rIns="35000" bIns="35000"><a:spAutoFit/></a:bodyPr><a:lstStyle/><a:p><a:pPr algn="c"></a:pPr><a:r><a:rPr lang="en-US" sz="1050" b="1"><a:solidFill><a:srgbClr val="7A5212"></a:srgbClr></a:solidFill><a:latin typeface="Aptos"/><a:cs typeface="Aptos"/></a:rPr><a:t>Confidence score</a:t></a:r></a:p></p:txBody></p:sp><p:sp><p:nvSpPr><p:cNvPr id="30" name="Card 1 Base"/><p:cNvSpPr/><p:nvPr/></p:nvSpPr><p:spPr><a:xfrm><a:off x="3200400" y="2606040"/><a:ext cx="2359152" cy="1993392"/></a:xfrm><a:prstGeom prst="roundRect"><a:avLst/></a:prstGeom><a:solidFill><a:srgbClr val="FFFFFF"></a:srgbClr></a:solidFill><a:ln w="10000"><a:solidFill><a:srgbClr val="DBE4E0"></a:srgbClr></a:solidFill></a:ln></p:spPr></p:sp><p:sp><p:nvSpPr><p:cNvPr id="40" name="Card 1 Accent"/><p:cNvSpPr/><p:nvPr/></p:nvSpPr><p:spPr><a:xfrm><a:off x="3200400" y="2606040"/><a:ext cx="2359152" cy="91440"/></a:xfrm><a:prstGeom prst="roundRect"><a:avLst/></a:prstGeom><a:solidFill><a:srgbClr val="31A59A"></a:srgbClr></a:solidFill><a:ln><a:noFill/></a:ln></p:spPr></p:sp><p:sp><p:nvSpPr><p:cNvPr id="50" name="Card 1 Text"/><p:cNvSpPr txBox="1"/><p:nvPr/></p:nvSpPr><p:spPr><a:xfrm><a:off x="3364992" y="2816352"/><a:ext cx="2011680" cy="1481328"/></a:xfrm><a:prstGeom prst="rect"><a:avLst/></a:prstGeom><a:noFill/><a:ln><a:noFill/></a:ln></p:spPr><p:txBody><a:bodyPr wrap="square" lIns="0" tIns="0" rIns="0" bIns="0"><a:spAutoFit/></a:bodyPr><a:lstStyle/><a:p><a:pPr algn="l"></a:pPr><a:r><a:rPr lang="en-US" sz="1450" b="1"><a:solidFill><a:srgbClr val="14313A"></a:srgbClr></a:solidFill><a:latin typeface="Aptos"/><a:cs typeface="Aptos"/></a:rPr><a:t>Audit every answer</a:t></a:r></a:p><a:p><a:pPr algn="l"></a:pPr><a:r><a:rPr lang="en-US" sz="1120" b="1"><a:solidFill><a:srgbClr val="31A59A"></a:srgbClr></a:solidFill><a:latin typeface="Aptos"/><a:cs typeface="Aptos"/></a:rPr><a:t>Citation grounding</a:t></a:r></a:p><a:p><a:pPr algn="l"></a:pPr><a:r><a:rPr lang="en-US" sz="970"><a:solidFill><a:srgbClr val="526B6C"></a:srgbClr></a:solidFill><a:latin typeface="Aptos"/><a:cs typeface="Aptos"/></a:rPr><a:t>Every claim links to PubMed articles and ClinicalTrials.gov records. Reviewers see exactly what evidence backs each conclusion.</a:t></a:r></a:p></p:txBody></p:sp><p:sp><p:nvSpPr><p:cNvPr id="31" name="Card 2 Base"/><p:cNvSpPr/><p:nvPr/></p:nvSpPr><p:spPr><a:xfrm><a:off x="5852160" y="2606040"/><a:ext cx="2359152" cy="1993392"/></a:xfrm><a:prstGeom prst="roundRect"><a:avLst/></a:prstGeom><a:solidFill><a:srgbClr val="FFFFFF"></a:srgbClr></a:solidFill><a:ln w="10000"><a:solidFill><a:srgbClr val="DBE4E0"></a:srgbClr></a:solidFill></a:ln></p:spPr></p:sp><p:sp><p:nvSpPr><p:cNvPr id="41" name="Card 2 Accent"/><p:cNvSpPr/><p:nvPr/></p:nvSpPr><p:spPr><a:xfrm><a:off x="5852160" y="2606040"/><a:ext cx="2359152" cy="91440"/></a:xfrm><a:prstGeom prst="roundRect"><a:avLst/></a:prstGeom><a:solidFill><a:srgbClr val="2F6F9F"></a:srgbClr></a:solidFill><a:ln><a:noFill/></a:ln></p:spPr></p:sp><p:sp><p:nvSpPr><p:cNvPr id="51" name="Card 2 Text"/><p:cNvSpPr txBox="1"/><p:nvPr/></p:nvSpPr><p:spPr><a:xfrm><a:off x="6016752" y="2816352"/><a:ext cx="2011680" cy="1481328"/></a:xfrm><a:prstGeom prst="rect"><a:avLst/></a:prstGeom><a:noFill/><a:ln><a:noFill/></a:ln></p:spPr><p:txBody><a:bodyPr wrap="square" lIns="0" tIns="0" rIns="0" bIns="0"><a:spAutoFit/></a:bodyPr><a:lstStyle/><a:p><a:pPr algn="l"></a:pPr><a:r><a:rPr lang="en-US" sz="1450" b="1"><a:solidFill><a:srgbClr val="14313A"></a:srgbClr></a:solidFill><a:latin typeface="Aptos"/><a:cs typeface="Aptos"/></a:rPr><a:t>Prevent misuse at the gate</a:t></a:r></a:p><a:p><a:pPr algn="l"></a:pPr><a:r><a:rPr lang="en-US" sz="1120" b="1"><a:solidFill><a:srgbClr val="2F6F9F"></a:srgbClr></a:solidFill><a:latin typeface="Aptos"/><a:cs typeface="Aptos"/></a:rPr><a:t>Input validation guard</a:t></a:r></a:p><a:p><a:pPr algn="l"></a:pPr><a:r><a:rPr lang="en-US" sz="970"><a:solidFill><a:srgbClr val="526B6C"></a:srgbClr></a:solidFill><a:latin typeface="Aptos"/><a:cs typeface="Aptos"/></a:rPr><a:t>Medical scope validation rejects non-clinical queries and prompt injection attempts before any LLM processing begins.</a:t></a:r></a:p></p:txBody></p:sp><p:sp><p:nvSpPr><p:cNvPr id="32" name="Card 3 Base"/><p:cNvSpPr/><p:nvPr/></p:nvSpPr><p:spPr><a:xfrm><a:off x="8503920" y="2606040"/><a:ext cx="2359152" cy="1993392"/></a:xfrm><a:prstGeom prst="roundRect"><a:avLst/></a:prstGeom><a:solidFill><a:srgbClr val="FFFFFF"></a:srgbClr></a:solidFill><a:ln w="10000"><a:solidFill><a:srgbClr val="DBE4E0"></a:srgbClr></a:solidFill></a:ln></p:spPr></p:sp><p:sp><p:nvSpPr><p:cNvPr id="42" name="Card 3 Accent"/><p:cNvSpPr/><p:nvPr/></p:nvSpPr><p:spPr><a:xfrm><a:off x="8503920" y="2606040"/><a:ext cx="2359152" cy="91440"/></a:xfrm><a:prstGeom prst="roundRect"><a:avLst/></a:prstGeom><a:solidFill><a:srgbClr val="D69A2D"></a:srgbClr></a:solidFill><a:ln><a:noFill/></a:ln></p:spPr></p:sp><p:sp><p:nvSpPr><p:cNvPr id="52" name="Card 3 Text"/><p:cNvSpPr txBox="1"/><p:nvPr/></p:nvSpPr><p:spPr><a:xfrm><a:off x="8668512" y="2816352"/><a:ext cx="2011680" cy="1481328"/></a:xfrm><a:prstGeom prst="rect"><a:avLst/></a:prstGeom><a:noFill/><a:ln><a:noFill/></a:ln></p:spPr><p:txBody><a:bodyPr wrap="square" lIns="0" tIns="0" rIns="0" bIns="0"><a:spAutoFit/></a:bodyPr><a:lstStyle/><a:p><a:pPr algn="l"></a:pPr><a:r><a:rPr lang="en-US" sz="1450" b="1"><a:solidFill><a:srgbClr val="14313A"></a:srgbClr></a:solidFill><a:latin typeface="Aptos"/><a:cs typeface="Aptos"/></a:rPr><a:t>Quantify what you don’t know</a:t></a:r></a:p><a:p><a:pPr algn="l"></a:pPr><a:r><a:rPr lang="en-US" sz="1120" b="1"><a:solidFill><a:srgbClr val="D69A2D"></a:srgbClr></a:solidFill><a:latin typeface="Aptos"/><a:cs typeface="Aptos"/></a:rPr><a:t>Confidence scoring</a:t></a:r></a:p><a:p><a:pPr algn="l"></a:pPr><a:r><a:rPr lang="en-US" sz="970"><a:solidFill><a:srgbClr val="526B6C"></a:srgbClr></a:solidFill><a:latin typeface="Aptos"/><a:cs typeface="Aptos"/></a:rPr><a:t>Each section shows evidence depth (strong/moderate/limited) with source counts and date ranges — so leaders know when to trust and when to verify.</a:t></a:r></a:p></p:txBody></p:sp><p:sp><p:nvSpPr><p:cNvPr id="60" name="Funding Outcome Band"/><p:cNvSpPr/><p:nvPr/></p:nvSpPr><p:spPr><a:xfrm><a:off x="3200400" y="5074920"/><a:ext cx="7909560" cy="1115568"/></a:xfrm><a:prstGeom prst="roundRect"><a:avLst/></a:prstGeom><a:solidFill><a:srgbClr val="14313A"></a:srgbClr></a:solidFill><a:ln><a:noFill/></a:ln></p:spPr></p:sp><p:sp><p:nvSpPr><p:cNvPr id="61" name="Funding Outcome Text"/><p:cNvSpPr txBox="1"/><p:nvPr/></p:nvSpPr><p:spPr><a:xfrm><a:off x="3456432" y="5248656"/><a:ext cx="3886200" cy="768096"/></a:xfrm><a:prstGeom prst="rect"><a:avLst/></a:prstGeom><a:noFill/><a:ln><a:noFill/></a:ln></p:spPr><p:txBody><a:bodyPr wrap="square" lIns="0" tIns="0" rIns="0" bIns="0"><a:spAutoFit/></a:bodyPr><a:lstStyle/><a:p><a:pPr algn="l"></a:pPr><a:r><a:rPr lang="en-US" sz="1220" b="1"><a:solidFill><a:srgbClr val="9DE0D6"></a:srgbClr></a:solidFill><a:latin typeface="Aptos"/><a:cs typeface="Aptos"/></a:rPr><a:t>Funding outcome</a:t></a:r></a:p><a:p><a:pPr algn="l"></a:pPr><a:r><a:rPr lang="en-US" sz="1150"><a:solidFill><a:srgbClr val="FFFFFF"></a:srgbClr></a:solidFill><a:latin typeface="Aptos"/><a:cs typeface="Aptos"/></a:rPr><a:t>Pilot success criteria: 80%+ grounding scores, <60s generation time, zero off-scope outputs in production, and measurable reduction in analyst research hours.</a:t></a:r></a:p></p:txBody></p:sp><p:sp><p:nvSpPr><p:cNvPr id="62" name="Band Divider"/><p:cNvSpPr/><p:nvPr/></p:nvSpPr><p:spPr><a:xfrm><a:off x="7543800" y="5230368"/><a:ext cx="13716" cy="768096"/></a:xfrm><a:prstGeom prst="rect"><a:avLst/></a:prstGeom><a:solidFill><a:srgbClr val="4E7577"></a:srgbClr></a:solidFill><a:ln><a:noFill/></a:ln></p:spPr></p:sp><p:sp><p:nvSpPr><p:cNvPr id="63" name="Pilot Deliverables"/><p:cNvSpPr txBox="1"/><p:nvPr/></p:nvSpPr><p:spPr><a:xfrm><a:off x="7754112" y="5230368"/><a:ext cx="2971800" cy="804672"/></a:xfrm><a:prstGeom prst="rect"><a:avLst/></a:prstGeom><a:noFill/><a:ln><a:noFill/></a:ln></p:spPr><p:txBody><a:bodyPr wrap="square" lIns="0" tIns="0" rIns="0" bIns="0"><a:spAutoFit/></a:bodyPr><a:lstStyle/><a:p><a:pPr algn="l"></a:pPr><a:r><a:rPr lang="en-US" sz="1050" b="1"><a:solidFill><a:srgbClr val="9DE0D6"></a:srgbClr></a:solidFill><a:latin typeface="Aptos"/><a:cs typeface="Aptos"/></a:rPr><a:t>Pilot deliverables</a:t></a:r></a:p><a:p><a:pPr algn="l"></a:pPr><a:r><a:rPr lang="en-US" sz="940"><a:solidFill><a:srgbClr val="DDEDEA"></a:srgbClr></a:solidFill><a:latin typeface="Aptos"/><a:cs typeface="Aptos"/></a:rPr><a:t>Citation grounding │ input validation guard │ confidence scoring │ audit-ready output</a:t></a:r></a:p></p:txBody></p:sp></p:spTree></p:cSld><p:clrMapOvr><a:masterClrMapping/></p:clrMapOvr></p:sld>
</file>

<file path=ppt/theme/theme1.xml><?xml version="1.0" encoding="utf-8"?>
<a:theme xmlns:a="http://schemas.openxmlformats.org/drawingml/2006/main" name="MedBrief">
  <a:themeElements>
    <a:clrScheme name="MedBrief">
      <a:dk1>
        <a:srgbClr val="14313A"/>
      </a:dk1>
      <a:lt1>
        <a:srgbClr val="FFFFFF"/>
      </a:lt1>
      <a:dk2>
        <a:srgbClr val="123F4B"/>
      </a:dk2>
      <a:lt2>
        <a:srgbClr val="F6F8F5"/>
      </a:lt2>
      <a:accent1>
        <a:srgbClr val="31A59A"/>
      </a:accent1>
      <a:accent2>
        <a:srgbClr val="2F6F9F"/>
      </a:accent2>
      <a:accent3>
        <a:srgbClr val="D69A2D"/>
      </a:accent3>
      <a:accent4>
        <a:srgbClr val="8DAA5A"/>
      </a:accent4>
      <a:accent5>
        <a:srgbClr val="8E6B9E"/>
      </a:accent5>
      <a:accent6>
        <a:srgbClr val="486365"/>
      </a:accent6>
      <a:hlink>
        <a:srgbClr val="2F6F9F"/>
      </a:hlink>
      <a:folHlink>
        <a:srgbClr val="8E6B9E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MedBrief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MedBrief stakeholder pitch</vt:lpstr>
    </vt:vector>
  </TitlesOfParts>
  <Company>MedBrief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MedBrief stakeholder pitch</dc:title>
  <dc:subject>Single-slide funding pitch</dc:subject>
  <dc:creator>Codex</dc:creator>
  <cp:keywords>MedBrief, funding, pilot, medical intelligence</cp:keywords>
  <dc:description>One-slide executive pitch focused on business outcomes from funding MedBrief.</dc:description>
  <cp:lastModifiedBy>Codex</cp:lastModifiedBy>
  <dcterms:created xsi:type="dcterms:W3CDTF">2026-05-26T22:43:45Z</dcterms:created>
  <dcterms:modified xsi:type="dcterms:W3CDTF">2026-05-26T22:43:45Z</dcterms:modified>
</cp:coreProperties>
</file>